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五子棋 AI：从 Minimax 到 Alpha-Beta 剪枝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FF"/>
                </a:solidFill>
                <a:latin typeface="Microsoft YaHei"/>
              </a:defRPr>
            </a:pPr>
            <a:r>
              <a:t>人工智能基础 — 大作业答辩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FF"/>
                </a:solidFill>
                <a:latin typeface="Microsoft YaHei"/>
              </a:defRPr>
            </a:pPr>
            <a:r>
              <a:t>[姓名] · [学号] · 单人完成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DD"/>
                </a:solidFill>
                <a:latin typeface="Microsoft YaHei"/>
              </a:defRPr>
            </a:pPr>
            <a:r>
              <a:t>2025 · 浙江大学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4" name="Oval 3"/>
          <p:cNvSpPr/>
          <p:nvPr/>
        </p:nvSpPr>
        <p:spPr>
          <a:xfrm>
            <a:off x="1097280" y="1645920"/>
            <a:ext cx="548640" cy="54864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600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C3E50"/>
                </a:solidFill>
                <a:latin typeface="Microsoft YaHei"/>
              </a:defRPr>
            </a:pPr>
            <a:r>
              <a:t>选题背景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从深蓝到AlphaGo，经典博弈AI的智慧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651760"/>
            <a:ext cx="548640" cy="54864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06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C3E50"/>
                </a:solidFill>
                <a:latin typeface="Microsoft YaHei"/>
              </a:defRPr>
            </a:pPr>
            <a:r>
              <a:t>核心原理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Minimax → Alpha-Beta 剪枝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657600"/>
            <a:ext cx="548640" cy="54864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C3E50"/>
                </a:solidFill>
                <a:latin typeface="Microsoft YaHei"/>
              </a:defRPr>
            </a:pPr>
            <a:r>
              <a:t>实现亮点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评估函数 + 搜索优化 + Pygame界面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663440"/>
            <a:ext cx="548640" cy="54864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617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C3E50"/>
                </a:solidFill>
                <a:latin typeface="Microsoft YaHei"/>
              </a:defRPr>
            </a:pPr>
            <a:r>
              <a:t>实验对比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326×加速比，7层搜索深度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5669280"/>
            <a:ext cx="548640" cy="548640"/>
          </a:xfrm>
          <a:prstGeom prst="ellipse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623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C3E50"/>
                </a:solidFill>
                <a:latin typeface="Microsoft YaHei"/>
              </a:defRPr>
            </a:pPr>
            <a:r>
              <a:t>Demo 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人机对战现场展示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Microsoft YaHei"/>
              </a:defRPr>
            </a:pPr>
            <a:r>
              <a:t>01  选题背景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47A1"/>
                </a:solidFill>
                <a:latin typeface="Microsoft YaHei"/>
              </a:defRPr>
            </a:pPr>
            <a:r>
              <a:t>"AI 不止有大模型，聪明地搜索本身就是一种强大的智能。"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3200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4D3D"/>
                </a:solidFill>
                <a:latin typeface="Microsoft YaHei"/>
              </a:defRPr>
            </a:pPr>
            <a:r>
              <a:t>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深蓝 (IBM)</a:t>
            </a:r>
            <a:br/>
            <a:r>
              <a:t>Minimax + Alpha-Beta</a:t>
            </a:r>
            <a:br/>
            <a:r>
              <a:t>击败卡斯帕罗夫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743200"/>
            <a:ext cx="3200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4D3D"/>
                </a:solidFill>
                <a:latin typeface="Microsoft YaHei"/>
              </a:defRPr>
            </a:pPr>
            <a:r>
              <a:t>2016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657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AlphaGo</a:t>
            </a:r>
            <a:br/>
            <a:r>
              <a:t>MCTS + 深度学习</a:t>
            </a:r>
            <a:br/>
            <a:r>
              <a:t>击败李世石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743200"/>
            <a:ext cx="3200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926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4D3D"/>
                </a:solidFill>
                <a:latin typeface="Microsoft YaHei"/>
              </a:defRPr>
            </a:pPr>
            <a:r>
              <a:t>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657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本项目</a:t>
            </a:r>
            <a:br/>
            <a:r>
              <a:t>五子棋 AI</a:t>
            </a:r>
            <a:br/>
            <a:r>
              <a:t>9×9 棋盘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Microsoft YaHei"/>
              </a:defRPr>
            </a:pPr>
            <a:r>
              <a:t>选择五子棋：搜索复杂度适中 · 评估函数设计空间大 · 答辩演示效果好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550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Microsoft YaHei"/>
              </a:defRPr>
            </a:pPr>
            <a:r>
              <a:rPr dirty="0"/>
              <a:t>02  </a:t>
            </a:r>
            <a:r>
              <a:rPr dirty="0" err="1"/>
              <a:t>核心原理：Minimax</a:t>
            </a:r>
            <a:r>
              <a:rPr dirty="0"/>
              <a:t> → Alpha-Beta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029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237E"/>
                </a:solidFill>
                <a:latin typeface="Microsoft YaHei"/>
              </a:defRPr>
            </a:pPr>
            <a:r>
              <a:t>Minimax 算法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我方 (MAX) 最大化分数，对手 (MIN) 最小化分数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假设双方都走出最优棋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递归搜索博弈树，深度 4 需搜索 19⁴ ≈ 130K 节点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局限：指数级搜索爆炸，深度 4 需 15 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4D3D"/>
                </a:solidFill>
                <a:latin typeface="Microsoft YaHei"/>
              </a:defRPr>
            </a:pPr>
            <a:r>
              <a:t>Alpha-Beta 剪枝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α = 我方能保证的最小分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β = 对方能接受的最大分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当 α ≥ β，剪掉该分支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▸ 效果：搜索节点从 b^d 降到 ≈ 2·b^(d/2)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10698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237E"/>
                </a:solidFill>
                <a:latin typeface="Microsoft YaHei"/>
              </a:defRPr>
            </a:pPr>
            <a:r>
              <a:t>评估函数设计：棋型识别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846320"/>
            <a:ext cx="1828800" cy="9144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连五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12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10,000,000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4846320"/>
            <a:ext cx="1828800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活四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212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1,000,000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79" y="4846320"/>
            <a:ext cx="18288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19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冲四 / 活三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19" y="5212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4846320"/>
            <a:ext cx="182880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0664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眠三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5212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19" y="4846320"/>
            <a:ext cx="1828800" cy="9144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09759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活二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5212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1,000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  <a:latin typeface="Microsoft YaHei"/>
              </a:defRPr>
            </a:pPr>
            <a:r>
              <a:t>最终分数 = 己方棋型总分 − 对方棋型总分 × 1.1（防守偏重）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Microsoft YaHei"/>
              </a:defRPr>
            </a:pPr>
            <a:r>
              <a:t>03  实现亮点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2004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37E"/>
                </a:solidFill>
                <a:latin typeface="Microsoft YaHei"/>
              </a:defRPr>
            </a:pPr>
            <a:r>
              <a:t>技术栈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Python 3  ·  Pygame  ·  NumPy</a:t>
            </a:r>
            <a:br/>
            <a:r>
              <a:t>Matplotlib  ·  python-pptx</a:t>
            </a:r>
            <a:br/>
            <a:br/>
            <a:r>
              <a:t>9×9 棋盘 · ~2000 行代码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71600"/>
            <a:ext cx="32004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37E"/>
                </a:solidFill>
                <a:latin typeface="Microsoft YaHei"/>
              </a:defRPr>
            </a:pPr>
            <a:r>
              <a:t>模块架构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📄 board.py — 棋盘引擎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📄 evaluate.py — 评估函数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📄 search.py — 搜索算法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71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📄 ui.py — 图形界面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371600"/>
            <a:ext cx="36576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37E"/>
                </a:solidFill>
                <a:latin typeface="Microsoft YaHei"/>
              </a:defRPr>
            </a:pPr>
            <a:r>
              <a:t>三大优化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✅ 走法裁剪：周围 1 格，81 → ~15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✅ 走法排序：剪枝效率提升 2-3×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43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✅ 置换表：缓存已搜局面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657600"/>
            <a:ext cx="1069848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237E"/>
                </a:solidFill>
                <a:latin typeface="Microsoft YaHei"/>
              </a:defRPr>
            </a:pPr>
            <a:r>
              <a:t>项目文件结构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gomoku-ai/</a:t>
            </a:r>
            <a:br/>
            <a:r>
              <a:t>├── board.py         棋盘逻辑（落子 / 胜负 / 走法生成）</a:t>
            </a:r>
            <a:br/>
            <a:r>
              <a:t>├── evaluate.py      棋型识别 + 权重打分</a:t>
            </a:r>
            <a:br/>
            <a:r>
              <a:t>├── search.py        Minimax → Alpha-Beta → 迭代加深</a:t>
            </a:r>
            <a:br/>
            <a:r>
              <a:t>├── ui.py            Pygame 图形对战界面</a:t>
            </a:r>
            <a:br/>
            <a:r>
              <a:t>├── main.py          统一入口 (GUI/CLI/实验)</a:t>
            </a:r>
            <a:br/>
            <a:r>
              <a:t>├── experiment.py    实验对比框架</a:t>
            </a:r>
            <a:br/>
            <a:r>
              <a:t>├── assets/          实验图表</a:t>
            </a:r>
            <a:br/>
            <a:r>
              <a:t>├── 开题报告.md / 实验报告.md / 答辩PPT.md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Microsoft YaHei"/>
              </a:defRPr>
            </a:pPr>
            <a:r>
              <a:t>04  实验对比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4008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Microsoft YaHei"/>
              </a:defRPr>
            </a:pPr>
            <a:r>
              <a:t>Minimax vs Alpha-Beta 耗时对比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1097280" cy="411480"/>
          </a:xfrm>
          <a:prstGeom prst="rect">
            <a:avLst/>
          </a:prstGeom>
          <a:solidFill>
            <a:srgbClr val="EB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搜索深度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11680"/>
            <a:ext cx="1463040" cy="411480"/>
          </a:xfrm>
          <a:prstGeom prst="rect">
            <a:avLst/>
          </a:prstGeom>
          <a:solidFill>
            <a:srgbClr val="EB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4884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Minimax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011680"/>
            <a:ext cx="1645920" cy="411480"/>
          </a:xfrm>
          <a:prstGeom prst="rect">
            <a:avLst/>
          </a:prstGeom>
          <a:solidFill>
            <a:srgbClr val="EB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Alpha-Beta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011680"/>
            <a:ext cx="1463040" cy="411480"/>
          </a:xfrm>
          <a:prstGeom prst="rect">
            <a:avLst/>
          </a:prstGeom>
          <a:solidFill>
            <a:srgbClr val="EB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加速比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42316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2468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42316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4884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0.001s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42316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2468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0.001s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242316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578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t>1×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83464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8803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283464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48840" y="2880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0.020s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283464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11880" y="28803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0.005s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83464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57800" y="2880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t>4×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324612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324612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14884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0.500s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66160" y="324612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11880" y="3291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0.016s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2080" y="324612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25780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t>31×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365760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51560" y="37033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365760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48840" y="3703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15.000s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3657600"/>
            <a:ext cx="16459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11880" y="3703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Microsoft YaHei"/>
              </a:defRPr>
            </a:pPr>
            <a:r>
              <a:t>0.046s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3657600"/>
            <a:ext cx="1463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257800" y="3703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C3E50"/>
                </a:solidFill>
                <a:latin typeface="Microsoft YaHei"/>
              </a:defRPr>
            </a:pPr>
            <a:r>
              <a:t>326×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98079" y="1371600"/>
            <a:ext cx="3931920" cy="3200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0" y="15544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关键指标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21259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4D3D"/>
                </a:solidFill>
                <a:latin typeface="Microsoft YaHei"/>
              </a:defRPr>
            </a:pPr>
            <a:r>
              <a:rPr dirty="0"/>
              <a:t>326×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39660" y="21717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FF"/>
                </a:solidFill>
                <a:latin typeface="Microsoft YaHei"/>
              </a:defRPr>
            </a:pPr>
            <a:r>
              <a:rPr dirty="0" err="1"/>
              <a:t>深度</a:t>
            </a:r>
            <a:r>
              <a:rPr dirty="0"/>
              <a:t> 4 </a:t>
            </a:r>
            <a:r>
              <a:rPr dirty="0" err="1"/>
              <a:t>加速比</a:t>
            </a:r>
            <a:endParaRPr dirty="0"/>
          </a:p>
        </p:txBody>
      </p:sp>
      <p:sp>
        <p:nvSpPr>
          <p:cNvPr id="51" name="TextBox 50"/>
          <p:cNvSpPr txBox="1"/>
          <p:nvPr/>
        </p:nvSpPr>
        <p:spPr>
          <a:xfrm>
            <a:off x="7790688" y="273623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4D3D"/>
                </a:solidFill>
                <a:latin typeface="Microsoft YaHei"/>
              </a:defRPr>
            </a:pPr>
            <a:r>
              <a:rPr dirty="0"/>
              <a:t>7 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5" y="283373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FF"/>
                </a:solidFill>
                <a:latin typeface="Microsoft YaHei"/>
              </a:defRPr>
            </a:pPr>
            <a:r>
              <a:rPr dirty="0"/>
              <a:t>3 </a:t>
            </a:r>
            <a:r>
              <a:rPr dirty="0" err="1"/>
              <a:t>秒内搜索深度</a:t>
            </a:r>
            <a:endParaRPr dirty="0"/>
          </a:p>
        </p:txBody>
      </p:sp>
      <p:sp>
        <p:nvSpPr>
          <p:cNvPr id="53" name="TextBox 52"/>
          <p:cNvSpPr txBox="1"/>
          <p:nvPr/>
        </p:nvSpPr>
        <p:spPr>
          <a:xfrm>
            <a:off x="7790688" y="338903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4D3D"/>
                </a:solidFill>
                <a:latin typeface="Microsoft YaHei"/>
              </a:defRPr>
            </a:pPr>
            <a:r>
              <a:rPr dirty="0"/>
              <a:t>70%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62288" y="345412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FF"/>
                </a:solidFill>
                <a:latin typeface="Microsoft YaHei"/>
              </a:defRPr>
            </a:pPr>
            <a:r>
              <a:t>先手胜率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393767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4D3D"/>
                </a:solidFill>
                <a:latin typeface="Microsoft YaHei"/>
              </a:defRPr>
            </a:pPr>
            <a:r>
              <a:t>~15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4855" y="400276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FF"/>
                </a:solidFill>
                <a:latin typeface="Microsoft YaHei"/>
              </a:defRPr>
            </a:pPr>
            <a:r>
              <a:rPr dirty="0" err="1"/>
              <a:t>平均分支因子</a:t>
            </a:r>
            <a:endParaRPr dirty="0"/>
          </a:p>
        </p:txBody>
      </p:sp>
      <p:sp>
        <p:nvSpPr>
          <p:cNvPr id="57" name="Rectangle 56"/>
          <p:cNvSpPr/>
          <p:nvPr/>
        </p:nvSpPr>
        <p:spPr>
          <a:xfrm>
            <a:off x="731520" y="4846319"/>
            <a:ext cx="10698480" cy="1566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0584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237E"/>
                </a:solidFill>
                <a:latin typeface="Microsoft YaHei"/>
              </a:defRPr>
            </a:pPr>
            <a:r>
              <a:t>搜索树大小对比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深度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616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130,321 节点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400 节点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4D3D"/>
                </a:solidFill>
                <a:latin typeface="Microsoft YaHei"/>
              </a:defRPr>
            </a:pPr>
            <a:r>
              <a:t>326×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" y="5715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深度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5715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rPr dirty="0"/>
              <a:t>2,476,099 </a:t>
            </a:r>
            <a:r>
              <a:rPr dirty="0" err="1"/>
              <a:t>节点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126480" y="5715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900 节点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5715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4D3D"/>
                </a:solidFill>
                <a:latin typeface="Microsoft YaHei"/>
              </a:defRPr>
            </a:pPr>
            <a:r>
              <a:t>2,751×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" y="6035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深度 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6035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47,045,881 节点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6035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Microsoft YaHei"/>
              </a:defRPr>
            </a:pPr>
            <a:r>
              <a:t>1,800 节点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035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4D3D"/>
                </a:solidFill>
                <a:latin typeface="Microsoft YaHei"/>
              </a:defRPr>
            </a:pPr>
            <a:r>
              <a:t>26,137×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237E"/>
                </a:solidFill>
                <a:latin typeface="Microsoft YaHei"/>
              </a:defRPr>
            </a:pPr>
            <a:r>
              <a:t>05  Demo 演示 &amp; 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237E"/>
                </a:solidFill>
                <a:latin typeface="Microsoft YaHei"/>
              </a:defRPr>
            </a:pPr>
            <a:r>
              <a:t>🎮 Demo 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1. 运行: python main.py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50591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2. 玩家执黑先行，鼠标点击落子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9806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3. AI 自动思考并应对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4553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4. 右侧信息栏显示搜索统计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930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7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Microsoft YaHei"/>
              </a:defRPr>
            </a:pPr>
            <a:r>
              <a:t>展示重点: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879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3D"/>
                </a:solidFill>
                <a:latin typeface="Microsoft YaHei"/>
              </a:defRPr>
            </a:pPr>
            <a:r>
              <a:t>✅ AI 识别活三 → 正确堵截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354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3D"/>
                </a:solidFill>
                <a:latin typeface="Microsoft YaHei"/>
              </a:defRPr>
            </a:pPr>
            <a:r>
              <a:t>✅ AI 识别冲四 → 优先防守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8828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3D"/>
                </a:solidFill>
                <a:latin typeface="Microsoft YaHei"/>
              </a:defRPr>
            </a:pPr>
            <a:r>
              <a:t>✅ 一步杀 → 立即取胜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3036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3D"/>
                </a:solidFill>
                <a:latin typeface="Microsoft YaHei"/>
              </a:defRPr>
            </a:pPr>
            <a:r>
              <a:t>✅ 悔棋功能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📌 总结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194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实现了完整五子棋 AI：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14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  ✓ Minimax + Alpha-Beta 剪枝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8346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  ✓ 迭代加深搜索（7 层/3秒）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546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  ✓ Pygame 图形对战界面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  ✓ 置换表 + 走法排序优化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实验验证：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  ✓ Alpha-Beta </a:t>
            </a:r>
            <a:r>
              <a:rPr dirty="0" err="1"/>
              <a:t>加速比</a:t>
            </a:r>
            <a:r>
              <a:rPr dirty="0"/>
              <a:t> 326×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754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  ✓ </a:t>
            </a:r>
            <a:r>
              <a:rPr dirty="0" err="1"/>
              <a:t>评估函数准确识别棋型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667512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0" y="5394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理解了：博弈树搜索的经典范式</a:t>
            </a:r>
            <a:r>
              <a:rPr dirty="0"/>
              <a:t>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算法优化与性能调试的工程实践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rPr lang="en-US" dirty="0"/>
              <a:t>   </a:t>
            </a:r>
            <a:r>
              <a:rPr dirty="0" err="1"/>
              <a:t>谢谢</a:t>
            </a:r>
            <a:r>
              <a:rPr dirty="0"/>
              <a:t>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0610" y="3008377"/>
            <a:ext cx="3027814" cy="104216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DDFF"/>
                </a:solidFill>
                <a:latin typeface="Microsoft YaHei"/>
              </a:defRPr>
            </a:pPr>
            <a:r>
              <a:rPr dirty="0"/>
              <a:t>[</a:t>
            </a:r>
            <a:r>
              <a:rPr dirty="0" err="1"/>
              <a:t>姓名</a:t>
            </a:r>
            <a:r>
              <a:rPr dirty="0"/>
              <a:t>] · [</a:t>
            </a:r>
            <a:r>
              <a:rPr dirty="0" err="1"/>
              <a:t>学号</a:t>
            </a:r>
            <a:r>
              <a:rPr dirty="0"/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526</Words>
  <Application>Microsoft Office PowerPoint</Application>
  <PresentationFormat>宽屏</PresentationFormat>
  <Paragraphs>135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luck 朱</cp:lastModifiedBy>
  <cp:revision>2</cp:revision>
  <dcterms:created xsi:type="dcterms:W3CDTF">2013-01-27T09:14:16Z</dcterms:created>
  <dcterms:modified xsi:type="dcterms:W3CDTF">2026-05-28T05:12:11Z</dcterms:modified>
  <cp:category/>
</cp:coreProperties>
</file>